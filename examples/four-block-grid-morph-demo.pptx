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纯图形演示：紧凑的四块城市网格卡展开为完整分区图。所有色块和黑线都是独立对象，复制整页后通过平滑切换完成重组。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展开状态：四个色面和独立黑线进入大幅城市分区构图。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收回状态：图案重新压缩回四块卡片。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white-base">
            <a:extLst>
              <a:ext uri="{FF2B5EF4-FFF2-40B4-BE49-F238E27FC236}">
                <a16:creationId xmlns:a16="http://schemas.microsoft.com/office/drawing/2014/main" id="{1CE83DE9-DBF1-4A7B-A29A-2CEF9B5F524D}"/>
              </a:ext>
            </a:extLst>
          </p:cNvPr>
          <p:cNvSpPr>
            <a:spLocks noGrp="1"/>
          </p:cNvSpPr>
          <p:nvPr/>
        </p:nvSpPr>
        <p:spPr>
          <a:xfrm>
            <a:off x="4429125" y="2857500"/>
            <a:ext cx="3333750" cy="1809750"/>
          </a:xfrm>
          <a:prstGeom prst="rect">
            <a:avLst/>
          </a:prstGeom>
          <a:solidFill>
            <a:srgbClr val="FAFAF8"/>
          </a:solidFill>
          <a:ln w="0">
            <a:noFill/>
          </a:ln>
        </p:spPr>
      </p:sp>
      <p:sp>
        <p:nvSpPr>
          <p:cNvPr id="2" name="!!red-face">
            <a:extLst>
              <a:ext uri="{FF2B5EF4-FFF2-40B4-BE49-F238E27FC236}">
                <a16:creationId xmlns:a16="http://schemas.microsoft.com/office/drawing/2014/main" id="{20D422AE-0D09-4958-AAAF-1CAE3F595DA9}"/>
              </a:ext>
            </a:extLst>
          </p:cNvPr>
          <p:cNvSpPr>
            <a:spLocks noGrp="1"/>
          </p:cNvSpPr>
          <p:nvPr/>
        </p:nvSpPr>
        <p:spPr>
          <a:xfrm>
            <a:off x="4429125" y="2857500"/>
            <a:ext cx="2143125" cy="1809750"/>
          </a:xfrm>
          <a:prstGeom prst="rect">
            <a:avLst/>
          </a:prstGeom>
          <a:solidFill>
            <a:srgbClr val="D10930"/>
          </a:solidFill>
          <a:ln w="0">
            <a:noFill/>
          </a:ln>
        </p:spPr>
      </p:sp>
      <p:sp>
        <p:nvSpPr>
          <p:cNvPr id="3" name="!!yellow-face">
            <a:extLst>
              <a:ext uri="{FF2B5EF4-FFF2-40B4-BE49-F238E27FC236}">
                <a16:creationId xmlns:a16="http://schemas.microsoft.com/office/drawing/2014/main" id="{E5BD1052-D42D-4873-8E34-8AF45885BAF7}"/>
              </a:ext>
            </a:extLst>
          </p:cNvPr>
          <p:cNvSpPr>
            <a:spLocks noGrp="1"/>
          </p:cNvSpPr>
          <p:nvPr/>
        </p:nvSpPr>
        <p:spPr>
          <a:xfrm>
            <a:off x="6572250" y="2857500"/>
            <a:ext cx="571500" cy="904875"/>
          </a:xfrm>
          <a:prstGeom prst="rect">
            <a:avLst/>
          </a:prstGeom>
          <a:solidFill>
            <a:srgbClr val="FFD326"/>
          </a:solidFill>
          <a:ln w="0">
            <a:noFill/>
          </a:ln>
        </p:spPr>
      </p:sp>
      <p:sp>
        <p:nvSpPr>
          <p:cNvPr id="4" name="!!blue-face">
            <a:extLst>
              <a:ext uri="{FF2B5EF4-FFF2-40B4-BE49-F238E27FC236}">
                <a16:creationId xmlns:a16="http://schemas.microsoft.com/office/drawing/2014/main" id="{ACE406DC-A223-4D00-8DE5-43E4DC70F90F}"/>
              </a:ext>
            </a:extLst>
          </p:cNvPr>
          <p:cNvSpPr>
            <a:spLocks noGrp="1"/>
          </p:cNvSpPr>
          <p:nvPr/>
        </p:nvSpPr>
        <p:spPr>
          <a:xfrm>
            <a:off x="6572250" y="3762375"/>
            <a:ext cx="1190625" cy="904875"/>
          </a:xfrm>
          <a:prstGeom prst="rect">
            <a:avLst/>
          </a:prstGeom>
          <a:solidFill>
            <a:srgbClr val="355FCB"/>
          </a:solidFill>
          <a:ln w="0">
            <a:noFill/>
          </a:ln>
        </p:spPr>
      </p:sp>
      <p:sp>
        <p:nvSpPr>
          <p:cNvPr id="5" name="!!rule-top">
            <a:extLst>
              <a:ext uri="{FF2B5EF4-FFF2-40B4-BE49-F238E27FC236}">
                <a16:creationId xmlns:a16="http://schemas.microsoft.com/office/drawing/2014/main" id="{C49FBD56-25B7-44E9-BCBD-90FE5A72B8E5}"/>
              </a:ext>
            </a:extLst>
          </p:cNvPr>
          <p:cNvSpPr>
            <a:spLocks noGrp="1"/>
          </p:cNvSpPr>
          <p:nvPr/>
        </p:nvSpPr>
        <p:spPr>
          <a:xfrm>
            <a:off x="4429125" y="2857500"/>
            <a:ext cx="3333750" cy="953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6" name="!!rule-bottom">
            <a:extLst>
              <a:ext uri="{FF2B5EF4-FFF2-40B4-BE49-F238E27FC236}">
                <a16:creationId xmlns:a16="http://schemas.microsoft.com/office/drawing/2014/main" id="{D1195CF8-5D03-497E-8E5B-2BF07A9D225E}"/>
              </a:ext>
            </a:extLst>
          </p:cNvPr>
          <p:cNvSpPr>
            <a:spLocks noGrp="1"/>
          </p:cNvSpPr>
          <p:nvPr/>
        </p:nvSpPr>
        <p:spPr>
          <a:xfrm>
            <a:off x="4429125" y="4667250"/>
            <a:ext cx="3333750" cy="953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7" name="!!rule-left">
            <a:extLst>
              <a:ext uri="{FF2B5EF4-FFF2-40B4-BE49-F238E27FC236}">
                <a16:creationId xmlns:a16="http://schemas.microsoft.com/office/drawing/2014/main" id="{87273910-7ABD-47E2-AB52-B711E0CF42A8}"/>
              </a:ext>
            </a:extLst>
          </p:cNvPr>
          <p:cNvSpPr>
            <a:spLocks noGrp="1"/>
          </p:cNvSpPr>
          <p:nvPr/>
        </p:nvSpPr>
        <p:spPr>
          <a:xfrm>
            <a:off x="4429125" y="2857500"/>
            <a:ext cx="953" cy="1809750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8" name="!!rule-right">
            <a:extLst>
              <a:ext uri="{FF2B5EF4-FFF2-40B4-BE49-F238E27FC236}">
                <a16:creationId xmlns:a16="http://schemas.microsoft.com/office/drawing/2014/main" id="{15EA3FC9-A865-46DF-9E11-909DF8F5FE99}"/>
              </a:ext>
            </a:extLst>
          </p:cNvPr>
          <p:cNvSpPr>
            <a:spLocks noGrp="1"/>
          </p:cNvSpPr>
          <p:nvPr/>
        </p:nvSpPr>
        <p:spPr>
          <a:xfrm>
            <a:off x="7762875" y="2857500"/>
            <a:ext cx="953" cy="1809750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9" name="!!rule-main-v">
            <a:extLst>
              <a:ext uri="{FF2B5EF4-FFF2-40B4-BE49-F238E27FC236}">
                <a16:creationId xmlns:a16="http://schemas.microsoft.com/office/drawing/2014/main" id="{11CAF992-1A07-4938-A823-635DF5C49FA4}"/>
              </a:ext>
            </a:extLst>
          </p:cNvPr>
          <p:cNvSpPr>
            <a:spLocks noGrp="1"/>
          </p:cNvSpPr>
          <p:nvPr/>
        </p:nvSpPr>
        <p:spPr>
          <a:xfrm>
            <a:off x="6572250" y="2857500"/>
            <a:ext cx="953" cy="1809750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10" name="!!rule-main-h">
            <a:extLst>
              <a:ext uri="{FF2B5EF4-FFF2-40B4-BE49-F238E27FC236}">
                <a16:creationId xmlns:a16="http://schemas.microsoft.com/office/drawing/2014/main" id="{76689448-9BA3-430A-B2CC-71F9EBFB77E4}"/>
              </a:ext>
            </a:extLst>
          </p:cNvPr>
          <p:cNvSpPr>
            <a:spLocks noGrp="1"/>
          </p:cNvSpPr>
          <p:nvPr/>
        </p:nvSpPr>
        <p:spPr>
          <a:xfrm>
            <a:off x="6572250" y="3762375"/>
            <a:ext cx="1190625" cy="953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11" name="!!rule-short-h">
            <a:extLst>
              <a:ext uri="{FF2B5EF4-FFF2-40B4-BE49-F238E27FC236}">
                <a16:creationId xmlns:a16="http://schemas.microsoft.com/office/drawing/2014/main" id="{4C685290-3970-43AB-B765-E3C4292F56EC}"/>
              </a:ext>
            </a:extLst>
          </p:cNvPr>
          <p:cNvSpPr>
            <a:spLocks noGrp="1"/>
          </p:cNvSpPr>
          <p:nvPr/>
        </p:nvSpPr>
        <p:spPr>
          <a:xfrm>
            <a:off x="6572250" y="3762375"/>
            <a:ext cx="1190625" cy="953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12" name="!!rule-right-v">
            <a:extLst>
              <a:ext uri="{FF2B5EF4-FFF2-40B4-BE49-F238E27FC236}">
                <a16:creationId xmlns:a16="http://schemas.microsoft.com/office/drawing/2014/main" id="{C439ABD6-4475-4066-B516-3F0243C2861D}"/>
              </a:ext>
            </a:extLst>
          </p:cNvPr>
          <p:cNvSpPr>
            <a:spLocks noGrp="1"/>
          </p:cNvSpPr>
          <p:nvPr/>
        </p:nvSpPr>
        <p:spPr>
          <a:xfrm>
            <a:off x="7143750" y="2857500"/>
            <a:ext cx="953" cy="904875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13" name="!!rule-right-h">
            <a:extLst>
              <a:ext uri="{FF2B5EF4-FFF2-40B4-BE49-F238E27FC236}">
                <a16:creationId xmlns:a16="http://schemas.microsoft.com/office/drawing/2014/main" id="{4169BC84-5777-4830-8294-7F95721725F3}"/>
              </a:ext>
            </a:extLst>
          </p:cNvPr>
          <p:cNvSpPr>
            <a:spLocks noGrp="1"/>
          </p:cNvSpPr>
          <p:nvPr/>
        </p:nvSpPr>
        <p:spPr>
          <a:xfrm>
            <a:off x="6572250" y="3762375"/>
            <a:ext cx="1190625" cy="953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14" name="!!name-text">
            <a:extLst>
              <a:ext uri="{FF2B5EF4-FFF2-40B4-BE49-F238E27FC236}">
                <a16:creationId xmlns:a16="http://schemas.microsoft.com/office/drawing/2014/main" id="{C0BBB1D9-DD81-46DF-9589-D8F2D00308C2}"/>
              </a:ext>
            </a:extLst>
          </p:cNvPr>
          <p:cNvSpPr>
            <a:spLocks noGrp="1"/>
          </p:cNvSpPr>
          <p:nvPr/>
        </p:nvSpPr>
        <p:spPr>
          <a:xfrm>
            <a:off x="4762500" y="3333750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GRID 01</a:t>
            </a:r>
          </a:p>
        </p:txBody>
      </p:sp>
      <p:sp>
        <p:nvSpPr>
          <p:cNvPr id="15" name="!!years-text">
            <a:extLst>
              <a:ext uri="{FF2B5EF4-FFF2-40B4-BE49-F238E27FC236}">
                <a16:creationId xmlns:a16="http://schemas.microsoft.com/office/drawing/2014/main" id="{2AC6AC47-7FC2-4EFF-9CA9-42CCBBE5851D}"/>
              </a:ext>
            </a:extLst>
          </p:cNvPr>
          <p:cNvSpPr>
            <a:spLocks noGrp="1"/>
          </p:cNvSpPr>
          <p:nvPr/>
        </p:nvSpPr>
        <p:spPr>
          <a:xfrm>
            <a:off x="4762500" y="390525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FOUR BLOCKS</a:t>
            </a:r>
          </a:p>
        </p:txBody>
      </p:sp>
      <p:sp>
        <p:nvSpPr>
          <p:cNvPr id="16" name="!!artwork-caption">
            <a:extLst>
              <a:ext uri="{FF2B5EF4-FFF2-40B4-BE49-F238E27FC236}">
                <a16:creationId xmlns:a16="http://schemas.microsoft.com/office/drawing/2014/main" id="{0C58DE76-8B09-4B11-981A-9836F466A644}"/>
              </a:ext>
            </a:extLst>
          </p:cNvPr>
          <p:cNvSpPr>
            <a:spLocks noGrp="1"/>
          </p:cNvSpPr>
          <p:nvPr/>
        </p:nvSpPr>
        <p:spPr>
          <a:xfrm>
            <a:off x="3000375" y="611505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>
                <a:solidFill>
                  <a:srgbClr val="F1F0EE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1F0EE">
                    <a:alpha val="0"/>
                  </a:srgbClr>
                </a:solidFill>
                <a:latin typeface="Arial"/>
                <a:ea typeface="Arial"/>
                <a:cs typeface="Arial"/>
              </a:rPr>
              <a:t>A pattern is a system of relationships</a:t>
            </a:r>
          </a:p>
        </p:txBody>
      </p:sp>
    </p:spTree>
    <p:extLst>
      <p:ext uri="{BB962C8B-B14F-4D97-AF65-F5344CB8AC3E}">
        <p14:creationId xmlns:p14="http://schemas.microsoft.com/office/powerpoint/2010/main" val="68680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00"/>
    </mc:Choice>
    <mc:Fallback>
      <p:transition spd="slow" advTm="24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white-base">
            <a:extLst>
              <a:ext uri="{FF2B5EF4-FFF2-40B4-BE49-F238E27FC236}">
                <a16:creationId xmlns:a16="http://schemas.microsoft.com/office/drawing/2014/main" id="{1CE83DE9-DBF1-4A7B-A29A-2CEF9B5F524D}"/>
              </a:ext>
            </a:extLst>
          </p:cNvPr>
          <p:cNvSpPr>
            <a:spLocks noGrp="1"/>
          </p:cNvSpPr>
          <p:nvPr/>
        </p:nvSpPr>
        <p:spPr>
          <a:xfrm>
            <a:off x="3048000" y="857250"/>
            <a:ext cx="4953000" cy="4953000"/>
          </a:xfrm>
          <a:prstGeom prst="rect">
            <a:avLst/>
          </a:prstGeom>
          <a:solidFill>
            <a:srgbClr val="FAFAF8"/>
          </a:solidFill>
          <a:ln w="0">
            <a:noFill/>
          </a:ln>
        </p:spPr>
      </p:sp>
      <p:sp>
        <p:nvSpPr>
          <p:cNvPr id="2" name="!!red-face">
            <a:extLst>
              <a:ext uri="{FF2B5EF4-FFF2-40B4-BE49-F238E27FC236}">
                <a16:creationId xmlns:a16="http://schemas.microsoft.com/office/drawing/2014/main" id="{20D422AE-0D09-4958-AAAF-1CAE3F595DA9}"/>
              </a:ext>
            </a:extLst>
          </p:cNvPr>
          <p:cNvSpPr>
            <a:spLocks noGrp="1"/>
          </p:cNvSpPr>
          <p:nvPr/>
        </p:nvSpPr>
        <p:spPr>
          <a:xfrm>
            <a:off x="4048125" y="857250"/>
            <a:ext cx="3952875" cy="3095625"/>
          </a:xfrm>
          <a:prstGeom prst="rect">
            <a:avLst/>
          </a:prstGeom>
          <a:solidFill>
            <a:srgbClr val="D10930"/>
          </a:solidFill>
          <a:ln w="0">
            <a:noFill/>
          </a:ln>
        </p:spPr>
      </p:sp>
      <p:sp>
        <p:nvSpPr>
          <p:cNvPr id="3" name="!!yellow-face">
            <a:extLst>
              <a:ext uri="{FF2B5EF4-FFF2-40B4-BE49-F238E27FC236}">
                <a16:creationId xmlns:a16="http://schemas.microsoft.com/office/drawing/2014/main" id="{E5BD1052-D42D-4873-8E34-8AF45885BAF7}"/>
              </a:ext>
            </a:extLst>
          </p:cNvPr>
          <p:cNvSpPr>
            <a:spLocks noGrp="1"/>
          </p:cNvSpPr>
          <p:nvPr/>
        </p:nvSpPr>
        <p:spPr>
          <a:xfrm>
            <a:off x="7239000" y="5095875"/>
            <a:ext cx="762000" cy="714375"/>
          </a:xfrm>
          <a:prstGeom prst="rect">
            <a:avLst/>
          </a:prstGeom>
          <a:solidFill>
            <a:srgbClr val="FFD326"/>
          </a:solidFill>
          <a:ln w="0">
            <a:noFill/>
          </a:ln>
        </p:spPr>
      </p:sp>
      <p:sp>
        <p:nvSpPr>
          <p:cNvPr id="4" name="!!blue-face">
            <a:extLst>
              <a:ext uri="{FF2B5EF4-FFF2-40B4-BE49-F238E27FC236}">
                <a16:creationId xmlns:a16="http://schemas.microsoft.com/office/drawing/2014/main" id="{ACE406DC-A223-4D00-8DE5-43E4DC70F90F}"/>
              </a:ext>
            </a:extLst>
          </p:cNvPr>
          <p:cNvSpPr>
            <a:spLocks noGrp="1"/>
          </p:cNvSpPr>
          <p:nvPr/>
        </p:nvSpPr>
        <p:spPr>
          <a:xfrm>
            <a:off x="3048000" y="3952875"/>
            <a:ext cx="1000125" cy="1857375"/>
          </a:xfrm>
          <a:prstGeom prst="rect">
            <a:avLst/>
          </a:prstGeom>
          <a:solidFill>
            <a:srgbClr val="355FCB"/>
          </a:solidFill>
          <a:ln w="0">
            <a:noFill/>
          </a:ln>
        </p:spPr>
      </p:sp>
      <p:sp>
        <p:nvSpPr>
          <p:cNvPr id="5" name="!!rule-top">
            <a:extLst>
              <a:ext uri="{FF2B5EF4-FFF2-40B4-BE49-F238E27FC236}">
                <a16:creationId xmlns:a16="http://schemas.microsoft.com/office/drawing/2014/main" id="{C49FBD56-25B7-44E9-BCBD-90FE5A72B8E5}"/>
              </a:ext>
            </a:extLst>
          </p:cNvPr>
          <p:cNvSpPr>
            <a:spLocks noGrp="1"/>
          </p:cNvSpPr>
          <p:nvPr/>
        </p:nvSpPr>
        <p:spPr>
          <a:xfrm>
            <a:off x="3048000" y="857250"/>
            <a:ext cx="4953000" cy="953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6" name="!!rule-bottom">
            <a:extLst>
              <a:ext uri="{FF2B5EF4-FFF2-40B4-BE49-F238E27FC236}">
                <a16:creationId xmlns:a16="http://schemas.microsoft.com/office/drawing/2014/main" id="{D1195CF8-5D03-497E-8E5B-2BF07A9D225E}"/>
              </a:ext>
            </a:extLst>
          </p:cNvPr>
          <p:cNvSpPr>
            <a:spLocks noGrp="1"/>
          </p:cNvSpPr>
          <p:nvPr/>
        </p:nvSpPr>
        <p:spPr>
          <a:xfrm>
            <a:off x="3048000" y="5810250"/>
            <a:ext cx="4953000" cy="953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7" name="!!rule-left">
            <a:extLst>
              <a:ext uri="{FF2B5EF4-FFF2-40B4-BE49-F238E27FC236}">
                <a16:creationId xmlns:a16="http://schemas.microsoft.com/office/drawing/2014/main" id="{87273910-7ABD-47E2-AB52-B711E0CF42A8}"/>
              </a:ext>
            </a:extLst>
          </p:cNvPr>
          <p:cNvSpPr>
            <a:spLocks noGrp="1"/>
          </p:cNvSpPr>
          <p:nvPr/>
        </p:nvSpPr>
        <p:spPr>
          <a:xfrm>
            <a:off x="3048000" y="857250"/>
            <a:ext cx="953" cy="4953000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8" name="!!rule-right">
            <a:extLst>
              <a:ext uri="{FF2B5EF4-FFF2-40B4-BE49-F238E27FC236}">
                <a16:creationId xmlns:a16="http://schemas.microsoft.com/office/drawing/2014/main" id="{15EA3FC9-A865-46DF-9E11-909DF8F5FE99}"/>
              </a:ext>
            </a:extLst>
          </p:cNvPr>
          <p:cNvSpPr>
            <a:spLocks noGrp="1"/>
          </p:cNvSpPr>
          <p:nvPr/>
        </p:nvSpPr>
        <p:spPr>
          <a:xfrm>
            <a:off x="8001000" y="857250"/>
            <a:ext cx="953" cy="4953000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9" name="!!rule-main-v">
            <a:extLst>
              <a:ext uri="{FF2B5EF4-FFF2-40B4-BE49-F238E27FC236}">
                <a16:creationId xmlns:a16="http://schemas.microsoft.com/office/drawing/2014/main" id="{11CAF992-1A07-4938-A823-635DF5C49FA4}"/>
              </a:ext>
            </a:extLst>
          </p:cNvPr>
          <p:cNvSpPr>
            <a:spLocks noGrp="1"/>
          </p:cNvSpPr>
          <p:nvPr/>
        </p:nvSpPr>
        <p:spPr>
          <a:xfrm>
            <a:off x="4048125" y="857250"/>
            <a:ext cx="953" cy="4953000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10" name="!!rule-main-h">
            <a:extLst>
              <a:ext uri="{FF2B5EF4-FFF2-40B4-BE49-F238E27FC236}">
                <a16:creationId xmlns:a16="http://schemas.microsoft.com/office/drawing/2014/main" id="{76689448-9BA3-430A-B2CC-71F9EBFB77E4}"/>
              </a:ext>
            </a:extLst>
          </p:cNvPr>
          <p:cNvSpPr>
            <a:spLocks noGrp="1"/>
          </p:cNvSpPr>
          <p:nvPr/>
        </p:nvSpPr>
        <p:spPr>
          <a:xfrm>
            <a:off x="3047999" y="3952875"/>
            <a:ext cx="4953000" cy="953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11" name="!!rule-short-h">
            <a:extLst>
              <a:ext uri="{FF2B5EF4-FFF2-40B4-BE49-F238E27FC236}">
                <a16:creationId xmlns:a16="http://schemas.microsoft.com/office/drawing/2014/main" id="{4C685290-3970-43AB-B765-E3C4292F56EC}"/>
              </a:ext>
            </a:extLst>
          </p:cNvPr>
          <p:cNvSpPr>
            <a:spLocks noGrp="1"/>
          </p:cNvSpPr>
          <p:nvPr/>
        </p:nvSpPr>
        <p:spPr>
          <a:xfrm>
            <a:off x="3048000" y="2143125"/>
            <a:ext cx="1000125" cy="953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12" name="!!rule-right-v">
            <a:extLst>
              <a:ext uri="{FF2B5EF4-FFF2-40B4-BE49-F238E27FC236}">
                <a16:creationId xmlns:a16="http://schemas.microsoft.com/office/drawing/2014/main" id="{C439ABD6-4475-4066-B516-3F0243C2861D}"/>
              </a:ext>
            </a:extLst>
          </p:cNvPr>
          <p:cNvSpPr>
            <a:spLocks noGrp="1"/>
          </p:cNvSpPr>
          <p:nvPr/>
        </p:nvSpPr>
        <p:spPr>
          <a:xfrm>
            <a:off x="7239000" y="3952875"/>
            <a:ext cx="953" cy="1857375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13" name="!!rule-right-h">
            <a:extLst>
              <a:ext uri="{FF2B5EF4-FFF2-40B4-BE49-F238E27FC236}">
                <a16:creationId xmlns:a16="http://schemas.microsoft.com/office/drawing/2014/main" id="{4169BC84-5777-4830-8294-7F95721725F3}"/>
              </a:ext>
            </a:extLst>
          </p:cNvPr>
          <p:cNvSpPr>
            <a:spLocks noGrp="1"/>
          </p:cNvSpPr>
          <p:nvPr/>
        </p:nvSpPr>
        <p:spPr>
          <a:xfrm>
            <a:off x="7239000" y="5095875"/>
            <a:ext cx="762000" cy="953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14" name="!!name-text">
            <a:extLst>
              <a:ext uri="{FF2B5EF4-FFF2-40B4-BE49-F238E27FC236}">
                <a16:creationId xmlns:a16="http://schemas.microsoft.com/office/drawing/2014/main" id="{C0BBB1D9-DD81-46DF-9589-D8F2D00308C2}"/>
              </a:ext>
            </a:extLst>
          </p:cNvPr>
          <p:cNvSpPr>
            <a:spLocks noGrp="1"/>
          </p:cNvSpPr>
          <p:nvPr/>
        </p:nvSpPr>
        <p:spPr>
          <a:xfrm>
            <a:off x="4762500" y="3333750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>
                    <a:alpha val="0"/>
                  </a:srgbClr>
                </a:solidFill>
                <a:latin typeface="Arial"/>
                <a:ea typeface="Arial"/>
                <a:cs typeface="Arial"/>
              </a:rPr>
              <a:t>GRID 01</a:t>
            </a:r>
          </a:p>
        </p:txBody>
      </p:sp>
      <p:sp>
        <p:nvSpPr>
          <p:cNvPr id="15" name="!!years-text">
            <a:extLst>
              <a:ext uri="{FF2B5EF4-FFF2-40B4-BE49-F238E27FC236}">
                <a16:creationId xmlns:a16="http://schemas.microsoft.com/office/drawing/2014/main" id="{2AC6AC47-7FC2-4EFF-9CA9-42CCBBE5851D}"/>
              </a:ext>
            </a:extLst>
          </p:cNvPr>
          <p:cNvSpPr>
            <a:spLocks noGrp="1"/>
          </p:cNvSpPr>
          <p:nvPr/>
        </p:nvSpPr>
        <p:spPr>
          <a:xfrm>
            <a:off x="4762500" y="390525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>
                    <a:alpha val="0"/>
                  </a:srgbClr>
                </a:solidFill>
                <a:latin typeface="Arial"/>
                <a:ea typeface="Arial"/>
                <a:cs typeface="Arial"/>
              </a:rPr>
              <a:t>FOUR BLOCKS</a:t>
            </a:r>
          </a:p>
        </p:txBody>
      </p:sp>
      <p:sp>
        <p:nvSpPr>
          <p:cNvPr id="16" name="!!artwork-caption">
            <a:extLst>
              <a:ext uri="{FF2B5EF4-FFF2-40B4-BE49-F238E27FC236}">
                <a16:creationId xmlns:a16="http://schemas.microsoft.com/office/drawing/2014/main" id="{0C58DE76-8B09-4B11-981A-9836F466A644}"/>
              </a:ext>
            </a:extLst>
          </p:cNvPr>
          <p:cNvSpPr>
            <a:spLocks noGrp="1"/>
          </p:cNvSpPr>
          <p:nvPr/>
        </p:nvSpPr>
        <p:spPr>
          <a:xfrm>
            <a:off x="3048000" y="6019800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>
                <a:solidFill>
                  <a:srgbClr val="F1F0EE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A pattern is a system of relationships</a:t>
            </a:r>
          </a:p>
        </p:txBody>
      </p:sp>
    </p:spTree>
    <p:extLst>
      <p:ext uri="{BB962C8B-B14F-4D97-AF65-F5344CB8AC3E}">
        <p14:creationId xmlns:p14="http://schemas.microsoft.com/office/powerpoint/2010/main" val="686801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00" advTm="2400">
        <p159:morph option="byObject"/>
      </p:transition>
    </mc:Choice>
    <mc:Fallback>
      <p:transition spd="slow" advTm="24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white-base">
            <a:extLst>
              <a:ext uri="{FF2B5EF4-FFF2-40B4-BE49-F238E27FC236}">
                <a16:creationId xmlns:a16="http://schemas.microsoft.com/office/drawing/2014/main" id="{1CE83DE9-DBF1-4A7B-A29A-2CEF9B5F524D}"/>
              </a:ext>
            </a:extLst>
          </p:cNvPr>
          <p:cNvSpPr>
            <a:spLocks noGrp="1"/>
          </p:cNvSpPr>
          <p:nvPr/>
        </p:nvSpPr>
        <p:spPr>
          <a:xfrm>
            <a:off x="4429125" y="2857500"/>
            <a:ext cx="3333750" cy="1809750"/>
          </a:xfrm>
          <a:prstGeom prst="rect">
            <a:avLst/>
          </a:prstGeom>
          <a:solidFill>
            <a:srgbClr val="FAFAF8"/>
          </a:solidFill>
          <a:ln w="0">
            <a:noFill/>
          </a:ln>
        </p:spPr>
      </p:sp>
      <p:sp>
        <p:nvSpPr>
          <p:cNvPr id="2" name="!!red-face">
            <a:extLst>
              <a:ext uri="{FF2B5EF4-FFF2-40B4-BE49-F238E27FC236}">
                <a16:creationId xmlns:a16="http://schemas.microsoft.com/office/drawing/2014/main" id="{20D422AE-0D09-4958-AAAF-1CAE3F595DA9}"/>
              </a:ext>
            </a:extLst>
          </p:cNvPr>
          <p:cNvSpPr>
            <a:spLocks noGrp="1"/>
          </p:cNvSpPr>
          <p:nvPr/>
        </p:nvSpPr>
        <p:spPr>
          <a:xfrm>
            <a:off x="4429125" y="2857500"/>
            <a:ext cx="2143125" cy="1809750"/>
          </a:xfrm>
          <a:prstGeom prst="rect">
            <a:avLst/>
          </a:prstGeom>
          <a:solidFill>
            <a:srgbClr val="D10930"/>
          </a:solidFill>
          <a:ln w="0">
            <a:noFill/>
          </a:ln>
        </p:spPr>
      </p:sp>
      <p:sp>
        <p:nvSpPr>
          <p:cNvPr id="3" name="!!yellow-face">
            <a:extLst>
              <a:ext uri="{FF2B5EF4-FFF2-40B4-BE49-F238E27FC236}">
                <a16:creationId xmlns:a16="http://schemas.microsoft.com/office/drawing/2014/main" id="{E5BD1052-D42D-4873-8E34-8AF45885BAF7}"/>
              </a:ext>
            </a:extLst>
          </p:cNvPr>
          <p:cNvSpPr>
            <a:spLocks noGrp="1"/>
          </p:cNvSpPr>
          <p:nvPr/>
        </p:nvSpPr>
        <p:spPr>
          <a:xfrm>
            <a:off x="6572250" y="2857500"/>
            <a:ext cx="571500" cy="904875"/>
          </a:xfrm>
          <a:prstGeom prst="rect">
            <a:avLst/>
          </a:prstGeom>
          <a:solidFill>
            <a:srgbClr val="FFD326"/>
          </a:solidFill>
          <a:ln w="0">
            <a:noFill/>
          </a:ln>
        </p:spPr>
      </p:sp>
      <p:sp>
        <p:nvSpPr>
          <p:cNvPr id="4" name="!!blue-face">
            <a:extLst>
              <a:ext uri="{FF2B5EF4-FFF2-40B4-BE49-F238E27FC236}">
                <a16:creationId xmlns:a16="http://schemas.microsoft.com/office/drawing/2014/main" id="{ACE406DC-A223-4D00-8DE5-43E4DC70F90F}"/>
              </a:ext>
            </a:extLst>
          </p:cNvPr>
          <p:cNvSpPr>
            <a:spLocks noGrp="1"/>
          </p:cNvSpPr>
          <p:nvPr/>
        </p:nvSpPr>
        <p:spPr>
          <a:xfrm>
            <a:off x="6572250" y="3762375"/>
            <a:ext cx="1190625" cy="904875"/>
          </a:xfrm>
          <a:prstGeom prst="rect">
            <a:avLst/>
          </a:prstGeom>
          <a:solidFill>
            <a:srgbClr val="355FCB"/>
          </a:solidFill>
          <a:ln w="0">
            <a:noFill/>
          </a:ln>
        </p:spPr>
      </p:sp>
      <p:sp>
        <p:nvSpPr>
          <p:cNvPr id="5" name="!!rule-top">
            <a:extLst>
              <a:ext uri="{FF2B5EF4-FFF2-40B4-BE49-F238E27FC236}">
                <a16:creationId xmlns:a16="http://schemas.microsoft.com/office/drawing/2014/main" id="{C49FBD56-25B7-44E9-BCBD-90FE5A72B8E5}"/>
              </a:ext>
            </a:extLst>
          </p:cNvPr>
          <p:cNvSpPr>
            <a:spLocks noGrp="1"/>
          </p:cNvSpPr>
          <p:nvPr/>
        </p:nvSpPr>
        <p:spPr>
          <a:xfrm>
            <a:off x="4429125" y="2857500"/>
            <a:ext cx="3333750" cy="953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6" name="!!rule-bottom">
            <a:extLst>
              <a:ext uri="{FF2B5EF4-FFF2-40B4-BE49-F238E27FC236}">
                <a16:creationId xmlns:a16="http://schemas.microsoft.com/office/drawing/2014/main" id="{D1195CF8-5D03-497E-8E5B-2BF07A9D225E}"/>
              </a:ext>
            </a:extLst>
          </p:cNvPr>
          <p:cNvSpPr>
            <a:spLocks noGrp="1"/>
          </p:cNvSpPr>
          <p:nvPr/>
        </p:nvSpPr>
        <p:spPr>
          <a:xfrm>
            <a:off x="4429125" y="4667250"/>
            <a:ext cx="3333750" cy="953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7" name="!!rule-left">
            <a:extLst>
              <a:ext uri="{FF2B5EF4-FFF2-40B4-BE49-F238E27FC236}">
                <a16:creationId xmlns:a16="http://schemas.microsoft.com/office/drawing/2014/main" id="{87273910-7ABD-47E2-AB52-B711E0CF42A8}"/>
              </a:ext>
            </a:extLst>
          </p:cNvPr>
          <p:cNvSpPr>
            <a:spLocks noGrp="1"/>
          </p:cNvSpPr>
          <p:nvPr/>
        </p:nvSpPr>
        <p:spPr>
          <a:xfrm>
            <a:off x="4429125" y="2857500"/>
            <a:ext cx="953" cy="1809750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8" name="!!rule-right">
            <a:extLst>
              <a:ext uri="{FF2B5EF4-FFF2-40B4-BE49-F238E27FC236}">
                <a16:creationId xmlns:a16="http://schemas.microsoft.com/office/drawing/2014/main" id="{15EA3FC9-A865-46DF-9E11-909DF8F5FE99}"/>
              </a:ext>
            </a:extLst>
          </p:cNvPr>
          <p:cNvSpPr>
            <a:spLocks noGrp="1"/>
          </p:cNvSpPr>
          <p:nvPr/>
        </p:nvSpPr>
        <p:spPr>
          <a:xfrm>
            <a:off x="7762875" y="2857500"/>
            <a:ext cx="953" cy="1809750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9" name="!!rule-main-v">
            <a:extLst>
              <a:ext uri="{FF2B5EF4-FFF2-40B4-BE49-F238E27FC236}">
                <a16:creationId xmlns:a16="http://schemas.microsoft.com/office/drawing/2014/main" id="{11CAF992-1A07-4938-A823-635DF5C49FA4}"/>
              </a:ext>
            </a:extLst>
          </p:cNvPr>
          <p:cNvSpPr>
            <a:spLocks noGrp="1"/>
          </p:cNvSpPr>
          <p:nvPr/>
        </p:nvSpPr>
        <p:spPr>
          <a:xfrm>
            <a:off x="6572250" y="2857500"/>
            <a:ext cx="953" cy="1809750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10" name="!!rule-main-h">
            <a:extLst>
              <a:ext uri="{FF2B5EF4-FFF2-40B4-BE49-F238E27FC236}">
                <a16:creationId xmlns:a16="http://schemas.microsoft.com/office/drawing/2014/main" id="{76689448-9BA3-430A-B2CC-71F9EBFB77E4}"/>
              </a:ext>
            </a:extLst>
          </p:cNvPr>
          <p:cNvSpPr>
            <a:spLocks noGrp="1"/>
          </p:cNvSpPr>
          <p:nvPr/>
        </p:nvSpPr>
        <p:spPr>
          <a:xfrm>
            <a:off x="6572250" y="3762375"/>
            <a:ext cx="1190625" cy="953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11" name="!!rule-short-h">
            <a:extLst>
              <a:ext uri="{FF2B5EF4-FFF2-40B4-BE49-F238E27FC236}">
                <a16:creationId xmlns:a16="http://schemas.microsoft.com/office/drawing/2014/main" id="{4C685290-3970-43AB-B765-E3C4292F56EC}"/>
              </a:ext>
            </a:extLst>
          </p:cNvPr>
          <p:cNvSpPr>
            <a:spLocks noGrp="1"/>
          </p:cNvSpPr>
          <p:nvPr/>
        </p:nvSpPr>
        <p:spPr>
          <a:xfrm>
            <a:off x="6572250" y="3762375"/>
            <a:ext cx="1190625" cy="953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12" name="!!rule-right-v">
            <a:extLst>
              <a:ext uri="{FF2B5EF4-FFF2-40B4-BE49-F238E27FC236}">
                <a16:creationId xmlns:a16="http://schemas.microsoft.com/office/drawing/2014/main" id="{C439ABD6-4475-4066-B516-3F0243C2861D}"/>
              </a:ext>
            </a:extLst>
          </p:cNvPr>
          <p:cNvSpPr>
            <a:spLocks noGrp="1"/>
          </p:cNvSpPr>
          <p:nvPr/>
        </p:nvSpPr>
        <p:spPr>
          <a:xfrm>
            <a:off x="7143750" y="2857500"/>
            <a:ext cx="953" cy="904875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13" name="!!rule-right-h">
            <a:extLst>
              <a:ext uri="{FF2B5EF4-FFF2-40B4-BE49-F238E27FC236}">
                <a16:creationId xmlns:a16="http://schemas.microsoft.com/office/drawing/2014/main" id="{4169BC84-5777-4830-8294-7F95721725F3}"/>
              </a:ext>
            </a:extLst>
          </p:cNvPr>
          <p:cNvSpPr>
            <a:spLocks noGrp="1"/>
          </p:cNvSpPr>
          <p:nvPr/>
        </p:nvSpPr>
        <p:spPr>
          <a:xfrm>
            <a:off x="6572250" y="3762375"/>
            <a:ext cx="1190625" cy="953"/>
          </a:xfrm>
          <a:prstGeom prst="line">
            <a:avLst/>
          </a:prstGeom>
          <a:noFill/>
          <a:ln w="66675">
            <a:solidFill>
              <a:srgbClr val="050505"/>
            </a:solidFill>
            <a:prstDash val="solid"/>
          </a:ln>
        </p:spPr>
      </p:sp>
      <p:sp>
        <p:nvSpPr>
          <p:cNvPr id="14" name="!!name-text">
            <a:extLst>
              <a:ext uri="{FF2B5EF4-FFF2-40B4-BE49-F238E27FC236}">
                <a16:creationId xmlns:a16="http://schemas.microsoft.com/office/drawing/2014/main" id="{C0BBB1D9-DD81-46DF-9589-D8F2D00308C2}"/>
              </a:ext>
            </a:extLst>
          </p:cNvPr>
          <p:cNvSpPr>
            <a:spLocks noGrp="1"/>
          </p:cNvSpPr>
          <p:nvPr/>
        </p:nvSpPr>
        <p:spPr>
          <a:xfrm>
            <a:off x="4762500" y="3333750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GRID 01</a:t>
            </a:r>
          </a:p>
        </p:txBody>
      </p:sp>
      <p:sp>
        <p:nvSpPr>
          <p:cNvPr id="15" name="!!years-text">
            <a:extLst>
              <a:ext uri="{FF2B5EF4-FFF2-40B4-BE49-F238E27FC236}">
                <a16:creationId xmlns:a16="http://schemas.microsoft.com/office/drawing/2014/main" id="{2AC6AC47-7FC2-4EFF-9CA9-42CCBBE5851D}"/>
              </a:ext>
            </a:extLst>
          </p:cNvPr>
          <p:cNvSpPr>
            <a:spLocks noGrp="1"/>
          </p:cNvSpPr>
          <p:nvPr/>
        </p:nvSpPr>
        <p:spPr>
          <a:xfrm>
            <a:off x="4762500" y="390525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FOUR BLOCKS</a:t>
            </a:r>
          </a:p>
        </p:txBody>
      </p:sp>
      <p:sp>
        <p:nvSpPr>
          <p:cNvPr id="16" name="!!artwork-caption">
            <a:extLst>
              <a:ext uri="{FF2B5EF4-FFF2-40B4-BE49-F238E27FC236}">
                <a16:creationId xmlns:a16="http://schemas.microsoft.com/office/drawing/2014/main" id="{0C58DE76-8B09-4B11-981A-9836F466A644}"/>
              </a:ext>
            </a:extLst>
          </p:cNvPr>
          <p:cNvSpPr>
            <a:spLocks noGrp="1"/>
          </p:cNvSpPr>
          <p:nvPr/>
        </p:nvSpPr>
        <p:spPr>
          <a:xfrm>
            <a:off x="3000375" y="611505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>
                <a:solidFill>
                  <a:srgbClr val="F1F0EE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1F0EE">
                    <a:alpha val="0"/>
                  </a:srgbClr>
                </a:solidFill>
                <a:latin typeface="Arial"/>
                <a:ea typeface="Arial"/>
                <a:cs typeface="Arial"/>
              </a:rPr>
              <a:t>A pattern is a system of relationships</a:t>
            </a:r>
          </a:p>
        </p:txBody>
      </p:sp>
    </p:spTree>
    <p:extLst>
      <p:ext uri="{BB962C8B-B14F-4D97-AF65-F5344CB8AC3E}">
        <p14:creationId xmlns:p14="http://schemas.microsoft.com/office/powerpoint/2010/main" val="686801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00" advTm="2400">
        <p159:morph option="byObject"/>
      </p:transition>
    </mc:Choice>
    <mc:Fallback>
      <p:transition spd="slow" advTm="2400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DocSecurity>0</DocSecurity>
  <PresentationFormat>宽屏</PresentationFormat>
  <Paragraphs>12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dx f</cp:lastModifiedBy>
  <cp:revision>1</cp:revision>
  <dcterms:created xsi:type="dcterms:W3CDTF">2026-09-14T15:09:52Z</dcterms:created>
  <dcterms:modified xsi:type="dcterms:W3CDTF">2026-09-14T15:10:24Z</dcterms:modified>
</cp:coreProperties>
</file>